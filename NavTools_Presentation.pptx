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00C7B7"/>
                </a:solidFill>
                <a:latin typeface="Calibri"/>
              </a:rPr>
              <a:t>👁️  NavTools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Assistive Gaze Tracking &amp; Voice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A0B0C0"/>
                </a:solidFill>
                <a:latin typeface="Calibri"/>
              </a:rPr>
              <a:t>Empowering Paralysed Individuals with Hands-Free Computer 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3931920"/>
            <a:ext cx="3931920" cy="36576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B0C0"/>
                </a:solidFill>
                <a:latin typeface="Calibri"/>
              </a:rPr>
              <a:t>Group 7  ·  8th Semester Major Project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7B7"/>
                </a:solidFill>
                <a:latin typeface="Calibri"/>
              </a:rPr>
              <a:t>Why we built NavTools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54864" cy="256032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70+ million people worldwide live with severe motor impairment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75688"/>
            <a:ext cx="54864" cy="256032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2996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Existing EEG/eye-gaze hardware costs $5,000+ — out of reach for most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51176"/>
            <a:ext cx="54864" cy="256032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05456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Paralysed users cannot use a keyboard or mouse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26664"/>
            <a:ext cx="54864" cy="256032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8094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Current assistive tech is too costly or too complex to deploy at scale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NavTools — Zero Extra Hardware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7B7"/>
                </a:solidFill>
                <a:latin typeface="Calibri"/>
              </a:rPr>
              <a:t>Just a webcam + microphone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54864" cy="256032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✅  Standard webcam for real-time eye gaze tracking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75688"/>
            <a:ext cx="54864" cy="256032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2996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✅  Standard microphone for offline voice commands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51176"/>
            <a:ext cx="54864" cy="256032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05456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✅  Completely non-invasive — no electrodes, no wearables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26664"/>
            <a:ext cx="54864" cy="256032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8094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✅  Runs 100% on Windows — no cloud dependency for core features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02152"/>
            <a:ext cx="54864" cy="256032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5643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✅  Open-source &amp; installable with a single click (install.bat)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7B7"/>
                </a:solidFill>
                <a:latin typeface="Calibri"/>
              </a:rPr>
              <a:t>Two parallel pipelines → unified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560320" cy="91440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📷 Webcam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6771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0C0"/>
                </a:solidFill>
                <a:latin typeface="Calibri"/>
              </a:rPr>
              <a:t>MediaPipe
Face Mesh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828800"/>
            <a:ext cx="2560320" cy="914400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8745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🧠 AttentionState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26771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0C0"/>
                </a:solidFill>
                <a:latin typeface="Calibri"/>
              </a:rPr>
              <a:t>Thread-Safe
Singleton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1554480"/>
            <a:ext cx="2560320" cy="914400"/>
          </a:xfrm>
          <a:prstGeom prst="rect">
            <a:avLst/>
          </a:prstGeom>
          <a:solidFill>
            <a:srgbClr val="16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6002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🖱️ Mouse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99339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0C0"/>
                </a:solidFill>
                <a:latin typeface="Calibri"/>
              </a:rPr>
              <a:t>PyAutoGUI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2743200"/>
            <a:ext cx="2560320" cy="914400"/>
          </a:xfrm>
          <a:prstGeom prst="rect">
            <a:avLst/>
          </a:prstGeom>
          <a:solidFill>
            <a:srgbClr val="16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2788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🪟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18211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0C0"/>
                </a:solidFill>
                <a:latin typeface="Calibri"/>
              </a:rPr>
              <a:t>Tkinter GUI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931920"/>
            <a:ext cx="2560320" cy="914400"/>
          </a:xfrm>
          <a:prstGeom prst="rect">
            <a:avLst/>
          </a:prstGeom>
          <a:solidFill>
            <a:srgbClr val="16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39776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🔮 Floating Orb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37083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0C0"/>
                </a:solidFill>
                <a:latin typeface="Calibri"/>
              </a:rPr>
              <a:t>PyQt5 Orb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40480"/>
            <a:ext cx="2560320" cy="91440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862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🎙️ Microphone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7939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0C0"/>
                </a:solidFill>
                <a:latin typeface="Calibri"/>
              </a:rPr>
              <a:t>Google Speech
/ Vosk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2240280"/>
            <a:ext cx="548640" cy="54864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08960" y="4251960"/>
            <a:ext cx="548640" cy="54864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011680"/>
            <a:ext cx="548640" cy="54864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200400"/>
            <a:ext cx="548640" cy="54864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389120"/>
            <a:ext cx="548640" cy="54864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👁️  Camera-Based Gaze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7B7"/>
                </a:solidFill>
                <a:latin typeface="Calibri"/>
              </a:rPr>
              <a:t>No calibration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55064"/>
            <a:ext cx="54864" cy="256032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MediaPipe Face Mesh — 468 facial landmarks/frame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30552"/>
            <a:ext cx="54864" cy="256032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7568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Eye Aspect Ratio (EAR) for blink detection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54864" cy="256032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5117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EMA smoothing eliminates cursor jitter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81528"/>
            <a:ext cx="54864" cy="256032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2666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Works in normal room lighting at 30 FPS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55064"/>
            <a:ext cx="54864" cy="256032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6002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😉  Left Wink  →  Left Click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130552"/>
            <a:ext cx="54864" cy="256032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07568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😉  Right Wink  →  Right Click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606040"/>
            <a:ext cx="54864" cy="256032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55117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👁️  Double Blink  →  Double Click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081528"/>
            <a:ext cx="54864" cy="256032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02666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⏱️  Hold Blink  →  Click &amp; Drag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554480"/>
            <a:ext cx="27432" cy="4846320"/>
          </a:xfrm>
          <a:prstGeom prst="rect">
            <a:avLst/>
          </a:prstGeom>
          <a:solidFill>
            <a:srgbClr val="16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🎙️  Jim — Intelligent Voice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7B7"/>
                </a:solidFill>
                <a:latin typeface="Calibri"/>
              </a:rPr>
              <a:t>Wake phrase: "Hey Jim" or "Wake up Jim"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566160" cy="1005840"/>
          </a:xfrm>
          <a:prstGeom prst="rect">
            <a:avLst/>
          </a:prstGeom>
          <a:solidFill>
            <a:srgbClr val="16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864" cy="1005840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7B7"/>
                </a:solidFill>
                <a:latin typeface="Calibri"/>
              </a:rPr>
              <a:t>App &amp;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0C0"/>
                </a:solidFill>
                <a:latin typeface="Calibri"/>
              </a:rPr>
              <a:t>Open, close, navigate tabs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645920"/>
            <a:ext cx="3566160" cy="1005840"/>
          </a:xfrm>
          <a:prstGeom prst="rect">
            <a:avLst/>
          </a:prstGeom>
          <a:solidFill>
            <a:srgbClr val="16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645920"/>
            <a:ext cx="54864" cy="1005840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737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7B7"/>
                </a:solidFill>
                <a:latin typeface="Calibri"/>
              </a:rPr>
              <a:t>System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1488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0C0"/>
                </a:solidFill>
                <a:latin typeface="Calibri"/>
              </a:rPr>
              <a:t>Volume, scroll, screenshot, lock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645920"/>
            <a:ext cx="3566160" cy="1005840"/>
          </a:xfrm>
          <a:prstGeom prst="rect">
            <a:avLst/>
          </a:prstGeom>
          <a:solidFill>
            <a:srgbClr val="16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645920"/>
            <a:ext cx="54864" cy="1005840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1737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7B7"/>
                </a:solidFill>
                <a:latin typeface="Calibri"/>
              </a:rPr>
              <a:t>File Explorer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1488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0C0"/>
                </a:solidFill>
                <a:latin typeface="Calibri"/>
              </a:rPr>
              <a:t>Open, rename, delete files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88920"/>
            <a:ext cx="3566160" cy="1005840"/>
          </a:xfrm>
          <a:prstGeom prst="rect">
            <a:avLst/>
          </a:prstGeom>
          <a:solidFill>
            <a:srgbClr val="16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788920"/>
            <a:ext cx="54864" cy="1005840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80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7B7"/>
                </a:solidFill>
                <a:latin typeface="Calibri"/>
              </a:rPr>
              <a:t>YouTube Music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2918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0C0"/>
                </a:solidFill>
                <a:latin typeface="Calibri"/>
              </a:rPr>
              <a:t>Play, next, like, shuffle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2788920"/>
            <a:ext cx="3566160" cy="1005840"/>
          </a:xfrm>
          <a:prstGeom prst="rect">
            <a:avLst/>
          </a:prstGeom>
          <a:solidFill>
            <a:srgbClr val="16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2788920"/>
            <a:ext cx="54864" cy="1005840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2880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7B7"/>
                </a:solidFill>
                <a:latin typeface="Calibri"/>
              </a:rPr>
              <a:t>Math &amp;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2918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0C0"/>
                </a:solidFill>
                <a:latin typeface="Calibri"/>
              </a:rPr>
              <a:t>"Calculate 15 × 3", Google search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2788920"/>
            <a:ext cx="3566160" cy="1005840"/>
          </a:xfrm>
          <a:prstGeom prst="rect">
            <a:avLst/>
          </a:prstGeom>
          <a:solidFill>
            <a:srgbClr val="16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0" y="2788920"/>
            <a:ext cx="54864" cy="1005840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2880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7B7"/>
                </a:solidFill>
                <a:latin typeface="Calibri"/>
              </a:rPr>
              <a:t>Dynamic Typing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32918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0C0"/>
                </a:solidFill>
                <a:latin typeface="Calibri"/>
              </a:rPr>
              <a:t>"Type hello world" into any 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349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00C7B7"/>
                </a:solidFill>
                <a:latin typeface="Calibri"/>
              </a:rPr>
              <a:t>120+ Commands  ·  Kokoro ONNX TTS (offline)  ·  SAPI5 Fallback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🔮  Animated Floating Orb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7B7"/>
                </a:solidFill>
                <a:latin typeface="Calibri"/>
              </a:rPr>
              <a:t>PyQt5 + QWebEngineView — Frameless &amp; Transparent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474720" cy="2560320"/>
          </a:xfrm>
          <a:prstGeom prst="rect">
            <a:avLst/>
          </a:prstGeom>
          <a:solidFill>
            <a:srgbClr val="16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474720" cy="73152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776AB"/>
                </a:solidFill>
                <a:latin typeface="Calibri"/>
              </a:rPr>
              <a:t>Idle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B0C0"/>
                </a:solidFill>
                <a:latin typeface="Calibri"/>
              </a:rPr>
              <a:t>Dim pulsing blue
— Awaiting wake word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3474720" cy="2560320"/>
          </a:xfrm>
          <a:prstGeom prst="rect">
            <a:avLst/>
          </a:prstGeom>
          <a:solidFill>
            <a:srgbClr val="16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474720" cy="73152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9659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697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7B7"/>
                </a:solidFill>
                <a:latin typeface="Calibri"/>
              </a:rPr>
              <a:t>Listening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2004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B0C0"/>
                </a:solidFill>
                <a:latin typeface="Calibri"/>
              </a:rPr>
              <a:t>Bright cyan/green
— Processing command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474720" cy="2560320"/>
          </a:xfrm>
          <a:prstGeom prst="rect">
            <a:avLst/>
          </a:prstGeom>
          <a:solidFill>
            <a:srgbClr val="16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347472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9659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97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Calibri"/>
              </a:rPr>
              <a:t>Speaking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2004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B0C0"/>
                </a:solidFill>
                <a:latin typeface="Calibri"/>
              </a:rPr>
              <a:t>Amber glow
— Jim is responding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46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A0B0C0"/>
                </a:solidFill>
                <a:latin typeface="Calibri"/>
              </a:rPr>
              <a:t>Double-click → Settings Dashboard   ·   Right-click → Exit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7B7"/>
                </a:solidFill>
                <a:latin typeface="Calibri"/>
              </a:rPr>
              <a:t>Lightweight · Offline-first · Open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3108960" cy="457200"/>
          </a:xfrm>
          <a:prstGeom prst="rect">
            <a:avLst/>
          </a:prstGeom>
          <a:solidFill>
            <a:srgbClr val="16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566160" y="1600200"/>
            <a:ext cx="8138160" cy="457200"/>
          </a:xfrm>
          <a:prstGeom prst="rect">
            <a:avLst/>
          </a:prstGeom>
          <a:solidFill>
            <a:srgbClr val="12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54864" cy="457200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7B7"/>
                </a:solidFill>
                <a:latin typeface="Calibri"/>
              </a:rP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66420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Python 3.9+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3108960" cy="457200"/>
          </a:xfrm>
          <a:prstGeom prst="rect">
            <a:avLst/>
          </a:prstGeom>
          <a:solidFill>
            <a:srgbClr val="16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2103120"/>
            <a:ext cx="8138160" cy="457200"/>
          </a:xfrm>
          <a:prstGeom prst="rect">
            <a:avLst/>
          </a:prstGeom>
          <a:solidFill>
            <a:srgbClr val="12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54864" cy="457200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6712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7B7"/>
                </a:solidFill>
                <a:latin typeface="Calibri"/>
              </a:rPr>
              <a:t>Gaze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16712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MediaPipe Face Landmarker (468 landmarks)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06040"/>
            <a:ext cx="3108960" cy="457200"/>
          </a:xfrm>
          <a:prstGeom prst="rect">
            <a:avLst/>
          </a:prstGeom>
          <a:solidFill>
            <a:srgbClr val="16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66160" y="2606040"/>
            <a:ext cx="8138160" cy="457200"/>
          </a:xfrm>
          <a:prstGeom prst="rect">
            <a:avLst/>
          </a:prstGeom>
          <a:solidFill>
            <a:srgbClr val="12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606040"/>
            <a:ext cx="54864" cy="457200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7004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7B7"/>
                </a:solidFill>
                <a:latin typeface="Calibri"/>
              </a:rPr>
              <a:t>Voice Recognition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67004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Google Speech API (online) / Vosk (offline)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08960"/>
            <a:ext cx="3108960" cy="457200"/>
          </a:xfrm>
          <a:prstGeom prst="rect">
            <a:avLst/>
          </a:prstGeom>
          <a:solidFill>
            <a:srgbClr val="16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66160" y="3108960"/>
            <a:ext cx="8138160" cy="457200"/>
          </a:xfrm>
          <a:prstGeom prst="rect">
            <a:avLst/>
          </a:prstGeom>
          <a:solidFill>
            <a:srgbClr val="12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108960"/>
            <a:ext cx="54864" cy="457200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1729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7B7"/>
                </a:solidFill>
                <a:latin typeface="Calibri"/>
              </a:rPr>
              <a:t>TTS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317296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Kokoro ONNX / Windows SAPI5 fallback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611880"/>
            <a:ext cx="3108960" cy="457200"/>
          </a:xfrm>
          <a:prstGeom prst="rect">
            <a:avLst/>
          </a:prstGeom>
          <a:solidFill>
            <a:srgbClr val="16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66160" y="3611880"/>
            <a:ext cx="8138160" cy="457200"/>
          </a:xfrm>
          <a:prstGeom prst="rect">
            <a:avLst/>
          </a:prstGeom>
          <a:solidFill>
            <a:srgbClr val="12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611880"/>
            <a:ext cx="54864" cy="457200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67588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7B7"/>
                </a:solidFill>
                <a:latin typeface="Calibri"/>
              </a:rPr>
              <a:t>GUI Framework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367588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PyQt5 + QWebEngineView + Tkinter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114800"/>
            <a:ext cx="3108960" cy="457200"/>
          </a:xfrm>
          <a:prstGeom prst="rect">
            <a:avLst/>
          </a:prstGeom>
          <a:solidFill>
            <a:srgbClr val="16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66160" y="4114800"/>
            <a:ext cx="8138160" cy="457200"/>
          </a:xfrm>
          <a:prstGeom prst="rect">
            <a:avLst/>
          </a:prstGeom>
          <a:solidFill>
            <a:srgbClr val="12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114800"/>
            <a:ext cx="54864" cy="457200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17880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7B7"/>
                </a:solidFill>
                <a:latin typeface="Calibri"/>
              </a:rPr>
              <a:t>Mouse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417880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PyAutoGUI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617720"/>
            <a:ext cx="3108960" cy="457200"/>
          </a:xfrm>
          <a:prstGeom prst="rect">
            <a:avLst/>
          </a:prstGeom>
          <a:solidFill>
            <a:srgbClr val="16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566160" y="4617720"/>
            <a:ext cx="8138160" cy="457200"/>
          </a:xfrm>
          <a:prstGeom prst="rect">
            <a:avLst/>
          </a:prstGeom>
          <a:solidFill>
            <a:srgbClr val="12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617720"/>
            <a:ext cx="54864" cy="457200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68172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7B7"/>
                </a:solidFill>
                <a:latin typeface="Calibri"/>
              </a:rPr>
              <a:t>State Mgmt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468172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Custom AttentionState thread-safe singleton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120640"/>
            <a:ext cx="3108960" cy="457200"/>
          </a:xfrm>
          <a:prstGeom prst="rect">
            <a:avLst/>
          </a:prstGeom>
          <a:solidFill>
            <a:srgbClr val="16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566160" y="5120640"/>
            <a:ext cx="8138160" cy="457200"/>
          </a:xfrm>
          <a:prstGeom prst="rect">
            <a:avLst/>
          </a:prstGeom>
          <a:solidFill>
            <a:srgbClr val="12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5120640"/>
            <a:ext cx="54864" cy="457200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18464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7B7"/>
                </a:solidFill>
                <a:latin typeface="Calibri"/>
              </a:rPr>
              <a:t>Packaging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03320" y="518464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PyInstaller — single .exe installer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Key Outcomes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7B7"/>
                </a:solidFill>
                <a:latin typeface="Calibri"/>
              </a:rPr>
              <a:t>Tested on standard consumer hardware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3566160" cy="1828800"/>
          </a:xfrm>
          <a:prstGeom prst="rect">
            <a:avLst/>
          </a:prstGeom>
          <a:solidFill>
            <a:srgbClr val="16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566160" cy="64008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C7B7"/>
                </a:solidFill>
                <a:latin typeface="Calibri"/>
              </a:rPr>
              <a:t>30 FPS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B0C0"/>
                </a:solidFill>
                <a:latin typeface="Calibri"/>
              </a:rPr>
              <a:t>Real-time gaze
tracking speed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91640"/>
            <a:ext cx="3566160" cy="1828800"/>
          </a:xfrm>
          <a:prstGeom prst="rect">
            <a:avLst/>
          </a:prstGeom>
          <a:solidFill>
            <a:srgbClr val="16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91640"/>
            <a:ext cx="3566160" cy="64008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92024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C7B7"/>
                </a:solidFill>
                <a:latin typeface="Calibri"/>
              </a:rPr>
              <a:t>&lt; 1.5s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7432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B0C0"/>
                </a:solidFill>
                <a:latin typeface="Calibri"/>
              </a:rPr>
              <a:t>Voice command
response latency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691640"/>
            <a:ext cx="3566160" cy="1828800"/>
          </a:xfrm>
          <a:prstGeom prst="rect">
            <a:avLst/>
          </a:prstGeom>
          <a:solidFill>
            <a:srgbClr val="16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691640"/>
            <a:ext cx="3566160" cy="64008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2024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C7B7"/>
                </a:solidFill>
                <a:latin typeface="Calibri"/>
              </a:rPr>
              <a:t>&gt; 95%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432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B0C0"/>
                </a:solidFill>
                <a:latin typeface="Calibri"/>
              </a:rPr>
              <a:t>Blink/wink gesture
accuracy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86200"/>
            <a:ext cx="3566160" cy="1828800"/>
          </a:xfrm>
          <a:prstGeom prst="rect">
            <a:avLst/>
          </a:prstGeom>
          <a:solidFill>
            <a:srgbClr val="16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3566160" cy="64008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C7B7"/>
                </a:solidFill>
                <a:latin typeface="Calibri"/>
              </a:rPr>
              <a:t>$0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B0C0"/>
                </a:solidFill>
                <a:latin typeface="Calibri"/>
              </a:rPr>
              <a:t>Extra hardware
required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886200"/>
            <a:ext cx="3566160" cy="1828800"/>
          </a:xfrm>
          <a:prstGeom prst="rect">
            <a:avLst/>
          </a:prstGeom>
          <a:solidFill>
            <a:srgbClr val="16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886200"/>
            <a:ext cx="3566160" cy="64008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411480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C7B7"/>
                </a:solidFill>
                <a:latin typeface="Calibri"/>
              </a:rPr>
              <a:t>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9377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B0C0"/>
                </a:solidFill>
                <a:latin typeface="Calibri"/>
              </a:rPr>
              <a:t>Installation
time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886200"/>
            <a:ext cx="3566160" cy="1828800"/>
          </a:xfrm>
          <a:prstGeom prst="rect">
            <a:avLst/>
          </a:prstGeom>
          <a:solidFill>
            <a:srgbClr val="16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886200"/>
            <a:ext cx="3566160" cy="64008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411480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C7B7"/>
                </a:solidFill>
                <a:latin typeface="Calibri"/>
              </a:rPr>
              <a:t>120+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9377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B0C0"/>
                </a:solidFill>
                <a:latin typeface="Calibri"/>
              </a:rPr>
              <a:t>Voice commands
supported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7B7"/>
                </a:solidFill>
                <a:latin typeface="Calibri"/>
              </a:rPr>
              <a:t>Evolving NavTools into a full assistive AI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55064"/>
            <a:ext cx="54864" cy="256032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🧠  On-device LLM for conversational commands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30552"/>
            <a:ext cx="54864" cy="256032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7568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📱  Cross-platform: macOS &amp; Linux support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54864" cy="256032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5117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🌐  Multi-language voice command support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55064"/>
            <a:ext cx="54864" cy="256032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6002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📊  Gaze heatmap for occupational therapy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130552"/>
            <a:ext cx="54864" cy="256032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07568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🏠  Smart home / IoT device integration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606040"/>
            <a:ext cx="54864" cy="256032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55117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🏥  Clinical trials &amp; NGO partnerships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554480"/>
            <a:ext cx="27432" cy="4846320"/>
          </a:xfrm>
          <a:prstGeom prst="rect">
            <a:avLst/>
          </a:prstGeom>
          <a:solidFill>
            <a:srgbClr val="16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Assistive Technology — Made Accessible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2188952" cy="36576"/>
          </a:xfrm>
          <a:prstGeom prst="rect">
            <a:avLst/>
          </a:prstGeom>
          <a:solidFill>
            <a:srgbClr val="00C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00C7B7"/>
                </a:solidFill>
                <a:latin typeface="Calibri"/>
              </a:rPr>
              <a:t>"Your eyes and voice are powerful tools.
NavTools lets you use them."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5204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🎯  Problem: Motor impairment locks users out of computers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0233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💡  Solution: Webcam gaze tracking + offline voice AI (Jim)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5262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✅  Impact: Free, open-source, deployable in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5074920"/>
            <a:ext cx="5760720" cy="36576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0B0C0"/>
                </a:solidFill>
                <a:latin typeface="Calibri"/>
              </a:rPr>
              <a:t>github.com/JatinderpalSingh9321/Assistant-Project-for-Paralysed-people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B0C0"/>
                </a:solidFill>
                <a:latin typeface="Calibri"/>
              </a:rPr>
              <a:t>Group 7  ·  8th Semester Major Project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